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Lobster"/>
      <p:regular r:id="rId24"/>
    </p:embeddedFont>
    <p:embeddedFont>
      <p:font typeface="Maven Pr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Lobster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" name="Google Shape;13;p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137400" y="374400"/>
            <a:ext cx="87762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4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20" name="Google Shape;20;p4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21" name="Google Shape;21;p4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4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4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24" name="Google Shape;24;p4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4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4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" name="Google Shape;27;p4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8" name="Google Shape;28;p4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Google Shape;32;p4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8" name="Google Shape;38;p4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9" name="Google Shape;39;p4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" name="Google Shape;41;p4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42" name="Google Shape;42;p4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Google Shape;45;p4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" name="Google Shape;46;p4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47" name="Google Shape;47;p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49;p4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" name="Google Shape;55;p4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4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5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60" name="Google Shape;60;p5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61" name="Google Shape;61;p5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" name="Google Shape;63;p5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4" name="Google Shape;64;p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8" name="Google Shape;68;p5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2" name="Google Shape;72;p5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3" name="Google Shape;73;p5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4" name="Google Shape;74;p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5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7" name="Google Shape;77;p5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5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81" name="Google Shape;81;p5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p5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6" name="Google Shape;86;p5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1" name="Google Shape;91;p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5" name="Google Shape;95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6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3" name="Google Shape;103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9" name="Google Shape;109;p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8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9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16" name="Google Shape;116;p9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17" name="Google Shape;117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9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" name="Google Shape;120;p9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21" name="Google Shape;121;p9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9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5" name="Google Shape;125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7" name="Google Shape;127;p9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0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1" name="Google Shape;131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10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5" name="Google Shape;135;p10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1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9" name="Google Shape;139;p1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2" name="Google Shape;142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2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5" name="Google Shape;145;p12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6" name="Google Shape;146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" name="Google Shape;150;p12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1" name="Google Shape;151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12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7" name="Google Shape;157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12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2" name="Google Shape;162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12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6" name="Google Shape;166;p12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2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2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2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12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2" name="Google Shape;172;p12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2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2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2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12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7" name="Google Shape;177;p12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2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2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12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1" name="Google Shape;181;p12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2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2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2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2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12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7" name="Google Shape;187;p12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2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2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2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12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2" name="Google Shape;192;p12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2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2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2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12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7" name="Google Shape;197;p12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2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2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12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1" name="Google Shape;201;p12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2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2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2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12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6" name="Google Shape;206;p12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2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12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1" name="Google Shape;211;p12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2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2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12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7" name="Google Shape;217;p12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2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2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2" name="Google Shape;222;p12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2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5" name="Google Shape;225;p12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6" name="Google Shape;226;p12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p12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1" name="Google Shape;231;p12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2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2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12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7" name="Google Shape;237;p12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2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2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12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2" name="Google Shape;242;p12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2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2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12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6" name="Google Shape;246;p12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2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2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2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2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12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2" name="Google Shape;252;p12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2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2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2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p12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7" name="Google Shape;257;p12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2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12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12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12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2" name="Google Shape;262;p12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12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2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p12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6" name="Google Shape;266;p12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2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2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12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0" name="Google Shape;270;p12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2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gradFill>
          <a:gsLst>
            <a:gs pos="0">
              <a:srgbClr val="E1C0FF"/>
            </a:gs>
            <a:gs pos="100000">
              <a:srgbClr val="FFC0DF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b.p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C0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idx="4294967295" type="title"/>
          </p:nvPr>
        </p:nvSpPr>
        <p:spPr>
          <a:xfrm>
            <a:off x="1181400" y="4687200"/>
            <a:ext cx="4715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8573"/>
              <a:buNone/>
            </a:pPr>
            <a:r>
              <a:t/>
            </a:r>
            <a:endParaRPr b="0" i="1" sz="2094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15"/>
              <a:buNone/>
            </a:pPr>
            <a:r>
              <a:t/>
            </a:r>
            <a:endParaRPr b="0" i="1" sz="4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</p:txBody>
      </p:sp>
      <p:sp>
        <p:nvSpPr>
          <p:cNvPr id="278" name="Google Shape;278;p13"/>
          <p:cNvSpPr txBox="1"/>
          <p:nvPr>
            <p:ph idx="4294967295" type="body"/>
          </p:nvPr>
        </p:nvSpPr>
        <p:spPr>
          <a:xfrm>
            <a:off x="234100" y="285300"/>
            <a:ext cx="8776200" cy="26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3000"/>
              <a:t>                </a:t>
            </a:r>
            <a:r>
              <a:rPr lang="ru" sz="3000">
                <a:solidFill>
                  <a:srgbClr val="DE0B59"/>
                </a:solidFill>
              </a:rPr>
              <a:t>Выпускная дипломная работа                   </a:t>
            </a:r>
            <a:endParaRPr sz="3000">
              <a:solidFill>
                <a:srgbClr val="DE0B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3000">
                <a:solidFill>
                  <a:srgbClr val="DE0B59"/>
                </a:solidFill>
              </a:rPr>
              <a:t>                                   на тему</a:t>
            </a:r>
            <a:endParaRPr sz="3000">
              <a:solidFill>
                <a:srgbClr val="DE0B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3000">
                <a:solidFill>
                  <a:srgbClr val="DE0B59"/>
                </a:solidFill>
              </a:rPr>
              <a:t>      “</a:t>
            </a:r>
            <a:r>
              <a:rPr i="1" lang="ru" sz="3000">
                <a:solidFill>
                  <a:srgbClr val="DE0B59"/>
                </a:solidFill>
              </a:rPr>
              <a:t>Issue Tracker Systems(Трекер поддержки)</a:t>
            </a:r>
            <a:r>
              <a:rPr lang="ru" sz="3000">
                <a:solidFill>
                  <a:srgbClr val="DE0B59"/>
                </a:solidFill>
              </a:rPr>
              <a:t>”.</a:t>
            </a:r>
            <a:endParaRPr sz="3000">
              <a:solidFill>
                <a:srgbClr val="DE0B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2000">
                <a:solidFill>
                  <a:srgbClr val="0D1117"/>
                </a:solidFill>
              </a:rPr>
              <a:t>Автор: Кубракова Алина Захаровна.</a:t>
            </a:r>
            <a:endParaRPr sz="2000">
              <a:solidFill>
                <a:srgbClr val="0D111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u" sz="2000">
                <a:solidFill>
                  <a:srgbClr val="0D1117"/>
                </a:solidFill>
              </a:rPr>
              <a:t>Руководитель: Ерофеев Илья Александрович.</a:t>
            </a:r>
            <a:endParaRPr sz="2000">
              <a:solidFill>
                <a:srgbClr val="0D111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2724925" y="185875"/>
            <a:ext cx="46434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Актуальность Темы: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148825" y="842125"/>
            <a:ext cx="22821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ru" sz="2000">
                <a:solidFill>
                  <a:srgbClr val="000000"/>
                </a:solidFill>
              </a:rPr>
              <a:t>1.Улучшают      прозрачность  процессов.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3675950" y="1642350"/>
            <a:ext cx="22821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2.Позволяют отслеживать статус задач на всех этапах.</a:t>
            </a:r>
            <a:endParaRPr b="0" i="0" sz="20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6332350" y="874225"/>
            <a:ext cx="20583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3.Инструменты позволяют фиксировать все проблемы.</a:t>
            </a:r>
            <a:endParaRPr b="0" i="0" sz="20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919550" y="3487100"/>
            <a:ext cx="62676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Итог: Использование трекеров обеспечивает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 только устранение багов, но и улучшает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общее качество продукта и коммуникацию.</a:t>
            </a:r>
            <a:endParaRPr b="0" i="0" sz="21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/>
        </p:nvSpPr>
        <p:spPr>
          <a:xfrm>
            <a:off x="167225" y="138150"/>
            <a:ext cx="8608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Цель и задачи:</a:t>
            </a:r>
            <a:endParaRPr b="0" i="0" sz="15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r>
              <a:rPr b="0" i="0" lang="ru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систематизировать работу, избежать потери задач, обеспечить прозрачность исполнения и повысить эффективность команды</a:t>
            </a:r>
            <a:r>
              <a:rPr b="0" i="0" lang="ru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5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1047025" y="13160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0C0EE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1. Фиксации ошибок.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718825" y="18395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FFF00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2.Постановка задач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089200" y="27244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CFE2F3"/>
              </a:gs>
              <a:gs pos="100000">
                <a:srgbClr val="9FC5E8"/>
              </a:gs>
            </a:gsLst>
            <a:lin ang="5400012" scaled="0"/>
          </a:gra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3.Планировании спринтов.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4718825" y="332800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B6D7A8"/>
              </a:gs>
              <a:gs pos="100000">
                <a:srgbClr val="D9EAD3"/>
              </a:gs>
            </a:gsLst>
            <a:lin ang="5400012" scaled="0"/>
          </a:gra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4.Прозрачное отслеживание прогресса.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/>
        </p:nvSpPr>
        <p:spPr>
          <a:xfrm>
            <a:off x="167225" y="36325"/>
            <a:ext cx="41736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ru" sz="2500" u="none" cap="none" strike="noStrike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Целевая аудитория и сценарий использования:</a:t>
            </a:r>
            <a:endParaRPr b="0" i="1" sz="2600" u="none" cap="none" strike="noStrike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167225" y="1017950"/>
            <a:ext cx="47481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Целевая аудитория:</a:t>
            </a:r>
            <a:endParaRPr b="0" i="0" sz="2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1.Разработчики и тестировщики.</a:t>
            </a:r>
            <a:endParaRPr b="0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2.Тех‑лиды и прод‑менеджеры.</a:t>
            </a:r>
            <a:endParaRPr b="0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3" name="Google Shape;303;p16"/>
          <p:cNvCxnSpPr/>
          <p:nvPr/>
        </p:nvCxnSpPr>
        <p:spPr>
          <a:xfrm>
            <a:off x="24000" y="865100"/>
            <a:ext cx="90960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6"/>
          <p:cNvSpPr txBox="1"/>
          <p:nvPr/>
        </p:nvSpPr>
        <p:spPr>
          <a:xfrm>
            <a:off x="167225" y="2624825"/>
            <a:ext cx="62199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Сценарии использования:</a:t>
            </a:r>
            <a:endParaRPr b="0" i="0" sz="19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1.Заведение и назначение задач.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2.Работа разработчика над задачей.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ru" sz="17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3.проверка и согласование.</a:t>
            </a:r>
            <a:endParaRPr b="0" i="0" sz="17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4.Мониторинг, отчёты и поддержка.</a:t>
            </a:r>
            <a:endParaRPr b="0" i="0" sz="17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/>
        </p:nvSpPr>
        <p:spPr>
          <a:xfrm>
            <a:off x="189025" y="29100"/>
            <a:ext cx="37008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0" i="1" lang="ru" sz="2750" u="none" cap="none" strike="noStrike">
                <a:solidFill>
                  <a:srgbClr val="854BAB"/>
                </a:solidFill>
                <a:latin typeface="Courier New"/>
                <a:ea typeface="Courier New"/>
                <a:cs typeface="Courier New"/>
                <a:sym typeface="Courier New"/>
              </a:rPr>
              <a:t>Функциональные требования:</a:t>
            </a:r>
            <a:endParaRPr b="0" i="1" sz="2750" u="none" cap="none" strike="noStrike">
              <a:solidFill>
                <a:srgbClr val="854BAB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1" sz="1700" u="none" cap="none" strike="noStrike">
              <a:solidFill>
                <a:srgbClr val="854B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356125" y="1211775"/>
            <a:ext cx="7823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Ключевые функции: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а)Комментарии и уведомления.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b)Назначение задач.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c)Отслеживание прогресса. 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2.Что пользователь может делать в системе: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a)Прикреплять файлы.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b)Комментировать назначенные задачи.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с)Фильтровать список.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3.Ограничения: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a)Определённое количество пользователей.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b)Права доступа.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c)Строгая последовательность задач.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/>
        </p:nvSpPr>
        <p:spPr>
          <a:xfrm>
            <a:off x="146125" y="79550"/>
            <a:ext cx="5853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1" lang="ru" sz="2050" u="none" cap="none" strike="noStrike">
                <a:solidFill>
                  <a:srgbClr val="A64D79"/>
                </a:solidFill>
                <a:latin typeface="Georgia"/>
                <a:ea typeface="Georgia"/>
                <a:cs typeface="Georgia"/>
                <a:sym typeface="Georgia"/>
              </a:rPr>
              <a:t>Технологический стек:</a:t>
            </a:r>
            <a:endParaRPr b="0" i="1" sz="2050" u="none" cap="none" strike="noStrike">
              <a:solidFill>
                <a:srgbClr val="A64D7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E4C0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269050" y="595850"/>
            <a:ext cx="39555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Frontend:                                  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*Компоненты для создания. </a:t>
            </a:r>
            <a:r>
              <a:rPr b="0" i="0" lang="ru" sz="15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</a:t>
            </a:r>
            <a:endParaRPr b="0" i="0" sz="15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Responsive дизайн на   JS-фреймворках.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</a:t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</a:t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   </a:t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238500" y="3679150"/>
            <a:ext cx="78963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Обоснование выбора: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Этот стек минимизирует время разработки MVP, один язык(JS/Python),подходит для быстрого запуска,богатая экосистема. 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238500" y="2443175"/>
            <a:ext cx="36573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Backend:</a:t>
            </a:r>
            <a:r>
              <a:rPr b="0" i="0" lang="ru" sz="16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6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*Интеграции с GitHub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*WebSockets для уведомлений.</a:t>
            </a:r>
            <a:r>
              <a:rPr b="0" i="0" lang="ru" sz="13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ru" sz="12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</a:t>
            </a:r>
            <a:endParaRPr b="0" i="0" sz="13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269050" y="1665625"/>
            <a:ext cx="4050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База данных:                                                           *Docker для деплоя.                                       *Redis для кэша/очередей.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/>
          <p:nvPr/>
        </p:nvSpPr>
        <p:spPr>
          <a:xfrm>
            <a:off x="280725" y="239950"/>
            <a:ext cx="3519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ru" sz="1650" u="none" cap="none" strike="noStrike">
                <a:solidFill>
                  <a:srgbClr val="854BAB"/>
                </a:solidFill>
                <a:latin typeface="Georgia"/>
                <a:ea typeface="Georgia"/>
                <a:cs typeface="Georgia"/>
                <a:sym typeface="Georgia"/>
              </a:rPr>
              <a:t>Архитектура и структура проекта:</a:t>
            </a:r>
            <a:endParaRPr b="1" i="0" sz="1650" u="none" cap="none" strike="noStrike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854BAB"/>
              </a:solidFill>
              <a:highlight>
                <a:srgbClr val="0D1117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562575" y="1193150"/>
            <a:ext cx="224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Структура папок: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797775" y="1632075"/>
            <a:ext cx="2485200" cy="1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Папки “py” - код для работы сайта.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Templates - главный экран сайта.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Static -дизайн сайта.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4080200" y="1149875"/>
            <a:ext cx="2343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API: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4321250" y="1563950"/>
            <a:ext cx="3332100" cy="17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GET/tasks - получить список задач.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POST/tasks - создать задачу.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PUT/tasks/:id - обновить задачу.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DELETE/tasks/:id - удалить задачу.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/>
        </p:nvSpPr>
        <p:spPr>
          <a:xfrm>
            <a:off x="138950" y="0"/>
            <a:ext cx="100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C27BA0"/>
                </a:solidFill>
                <a:latin typeface="Georgia"/>
                <a:ea typeface="Georgia"/>
                <a:cs typeface="Georgia"/>
                <a:sym typeface="Georgia"/>
              </a:rPr>
              <a:t>UX/UI:</a:t>
            </a:r>
            <a:endParaRPr b="0" i="0" sz="2100" u="none" cap="none" strike="noStrike">
              <a:solidFill>
                <a:srgbClr val="C27BA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34" name="Google Shape;334;p20" title="Снимок экрана (12).png"/>
          <p:cNvPicPr preferRelativeResize="0"/>
          <p:nvPr/>
        </p:nvPicPr>
        <p:blipFill rotWithShape="1">
          <a:blip r:embed="rId3">
            <a:alphaModFix/>
          </a:blip>
          <a:srcRect b="24701" l="31737" r="39606" t="37952"/>
          <a:stretch/>
        </p:blipFill>
        <p:spPr>
          <a:xfrm>
            <a:off x="4876400" y="905250"/>
            <a:ext cx="4206274" cy="28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0"/>
          <p:cNvSpPr txBox="1"/>
          <p:nvPr/>
        </p:nvSpPr>
        <p:spPr>
          <a:xfrm>
            <a:off x="138950" y="528825"/>
            <a:ext cx="4835400" cy="2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Элементы визуализации данных: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Информационные карточки:</a:t>
            </a: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Отображают ключевые показатели, такие как общее количество задач (75), активных (30) и завершенных (160).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Графики и диаграммы:</a:t>
            </a: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Столбчатые диаграммы и линейные графики для отслеживания динамики выполнения работ во времени.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Списки задач и профили:</a:t>
            </a: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ru">
                <a:latin typeface="Georgia"/>
                <a:ea typeface="Georgia"/>
                <a:cs typeface="Georgia"/>
                <a:sym typeface="Georgia"/>
              </a:rPr>
              <a:t>Н</a:t>
            </a: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авигация по текущим задачам с отображением ответственных сотрудников.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/>
        </p:nvSpPr>
        <p:spPr>
          <a:xfrm>
            <a:off x="160925" y="190200"/>
            <a:ext cx="42135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Демонстрация работы:</a:t>
            </a:r>
            <a:endParaRPr b="0" i="0" sz="2300" u="none" cap="none" strike="noStrike">
              <a:solidFill>
                <a:srgbClr val="DE0B5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41" name="Google Shape;341;p21" title="Снимок экрана (13).png"/>
          <p:cNvPicPr preferRelativeResize="0"/>
          <p:nvPr/>
        </p:nvPicPr>
        <p:blipFill rotWithShape="1">
          <a:blip r:embed="rId3">
            <a:alphaModFix/>
          </a:blip>
          <a:srcRect b="47894" l="37371" r="31698" t="18860"/>
          <a:stretch/>
        </p:blipFill>
        <p:spPr>
          <a:xfrm>
            <a:off x="360575" y="877800"/>
            <a:ext cx="2097024" cy="208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1" title="Снимок экрана (14).png"/>
          <p:cNvPicPr preferRelativeResize="0"/>
          <p:nvPr/>
        </p:nvPicPr>
        <p:blipFill rotWithShape="1">
          <a:blip r:embed="rId4">
            <a:alphaModFix/>
          </a:blip>
          <a:srcRect b="49090" l="37520" r="30700" t="18120"/>
          <a:stretch/>
        </p:blipFill>
        <p:spPr>
          <a:xfrm>
            <a:off x="2697550" y="805800"/>
            <a:ext cx="2421226" cy="226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1" title="Снимок экрана (15).png"/>
          <p:cNvPicPr preferRelativeResize="0"/>
          <p:nvPr/>
        </p:nvPicPr>
        <p:blipFill rotWithShape="1">
          <a:blip r:embed="rId5">
            <a:alphaModFix/>
          </a:blip>
          <a:srcRect b="24745" l="37778" r="31621" t="19572"/>
          <a:stretch/>
        </p:blipFill>
        <p:spPr>
          <a:xfrm>
            <a:off x="5431425" y="825800"/>
            <a:ext cx="2552126" cy="22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 title="Снимок экрана (16).png"/>
          <p:cNvPicPr preferRelativeResize="0"/>
          <p:nvPr/>
        </p:nvPicPr>
        <p:blipFill rotWithShape="1">
          <a:blip r:embed="rId6">
            <a:alphaModFix/>
          </a:blip>
          <a:srcRect b="15596" l="37563" r="31220" t="18679"/>
          <a:stretch/>
        </p:blipFill>
        <p:spPr>
          <a:xfrm>
            <a:off x="360575" y="3206526"/>
            <a:ext cx="2370326" cy="17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"/>
          <p:cNvSpPr txBox="1"/>
          <p:nvPr/>
        </p:nvSpPr>
        <p:spPr>
          <a:xfrm>
            <a:off x="145425" y="159950"/>
            <a:ext cx="3760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ru" sz="1750" u="none" cap="none" strike="noStrike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Тестирование и качество:</a:t>
            </a:r>
            <a:endParaRPr b="1" i="0" sz="1750" u="none" cap="none" strike="noStrike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1.Тестирование проводилось в ручную.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145425" y="1082350"/>
            <a:ext cx="4514400" cy="16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2.Пример кейсов: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1.Авторизация/регистрация - пустой логин/пароль, неверный пароль, несуществующий пароль, дублирующийся username.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2.Тикеты и комментарии - создание тикета без заголовка, запрет действий в архивном проекте, пустой комментарий.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5091375" y="729175"/>
            <a:ext cx="3467400" cy="4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3.Обработка ошибок и валидации: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1.Валидация входных данных на сервере - проверка обязательных полей, длины, допустимых ролей/приоритетов, преобразования user_id и int.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2.Обработка бизнес-ошибок - sqlite3.IntegrityError для уникальности логина,возврат кодов 400/403/404/409, flash/error сообщения пользователю.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3.Защита на уровне БД - UNIQUE, CHECK, FOREIGN KEY в </a:t>
            </a:r>
            <a:r>
              <a:rPr b="0" i="0" lang="ru" sz="1400" u="sng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db.py</a:t>
            </a: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как дополнительный барьер валидации.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 txBox="1"/>
          <p:nvPr/>
        </p:nvSpPr>
        <p:spPr>
          <a:xfrm>
            <a:off x="80450" y="197500"/>
            <a:ext cx="313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980000"/>
                </a:solidFill>
                <a:latin typeface="Georgia"/>
                <a:ea typeface="Georgia"/>
                <a:cs typeface="Georgia"/>
                <a:sym typeface="Georgia"/>
              </a:rPr>
              <a:t>Сложности и их решения:</a:t>
            </a:r>
            <a:endParaRPr b="0" i="0" sz="1700" u="none" cap="none" strike="noStrike">
              <a:solidFill>
                <a:srgbClr val="98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7" name="Google Shape;357;p23"/>
          <p:cNvSpPr txBox="1"/>
          <p:nvPr/>
        </p:nvSpPr>
        <p:spPr>
          <a:xfrm>
            <a:off x="482825" y="672975"/>
            <a:ext cx="3204000" cy="3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1.Разграничения прав доступа: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Проблема - в системе несколько ролей, и было сложно корректно ограничивать действия каждого пользователя.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Решение - вынесены проверки прав в отдельные функции и добавлены ограничения доступа для защищенных маршрутов.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Чему научились - централизация RBAC-логика делает код безопаснее.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4491525" y="563225"/>
            <a:ext cx="33357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2.Архивация вместо удаления: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Проблема - требовалось скрывать/блокировать сущности без потери истории работы.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Решение - реализован механизм soft-archive и запрет действий для архивных записей.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Чему научились -бизнес-правила “жизненного цикла” данных нужно учитывать во всех пользовательских сценариях, а не только при изображении интерфейса.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"/>
          <p:cNvSpPr txBox="1"/>
          <p:nvPr/>
        </p:nvSpPr>
        <p:spPr>
          <a:xfrm>
            <a:off x="197500" y="234075"/>
            <a:ext cx="3482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674EA7"/>
                </a:solidFill>
                <a:latin typeface="Georgia"/>
                <a:ea typeface="Georgia"/>
                <a:cs typeface="Georgia"/>
                <a:sym typeface="Georgia"/>
              </a:rPr>
              <a:t>Результаты и планы развития:</a:t>
            </a:r>
            <a:endParaRPr b="0" i="0" sz="1700" u="none" cap="none" strike="noStrike">
              <a:solidFill>
                <a:srgbClr val="674EA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4" name="Google Shape;364;p24"/>
          <p:cNvSpPr txBox="1"/>
          <p:nvPr/>
        </p:nvSpPr>
        <p:spPr>
          <a:xfrm>
            <a:off x="416975" y="768100"/>
            <a:ext cx="29481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Реализовано: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1.Авторизация и роли пользователей.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2. Создание и ведение проектов.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3.Работа с заявками(создание,просмотр,комментарии).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4. Архивирование пользователей и проектов.</a:t>
            </a:r>
            <a:endParaRPr sz="1500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5. Хранение историй действий по заявкам.</a:t>
            </a:r>
            <a:endParaRPr sz="1500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4012300" y="768100"/>
            <a:ext cx="3558000" cy="26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План развития:</a:t>
            </a:r>
            <a:endParaRPr sz="1500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1. </a:t>
            </a: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Добавить автоматизированные тексты для критических сценариев тексты.</a:t>
            </a:r>
            <a:endParaRPr sz="1500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2. Расширить функциональность </a:t>
            </a: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заявок</a:t>
            </a: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500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3. Улучшить  UX/UI.</a:t>
            </a:r>
            <a:endParaRPr sz="1500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4. Усилить </a:t>
            </a: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безопасность</a:t>
            </a:r>
            <a:r>
              <a:rPr lang="ru" sz="1500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и эксплуатацию.</a:t>
            </a:r>
            <a:endParaRPr sz="1500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"/>
          <p:cNvSpPr txBox="1"/>
          <p:nvPr/>
        </p:nvSpPr>
        <p:spPr>
          <a:xfrm>
            <a:off x="153100" y="244900"/>
            <a:ext cx="31842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854BAB"/>
                </a:solidFill>
                <a:latin typeface="Georgia"/>
                <a:ea typeface="Georgia"/>
                <a:cs typeface="Georgia"/>
                <a:sym typeface="Georgia"/>
              </a:rPr>
              <a:t>Выводы</a:t>
            </a:r>
            <a:r>
              <a:rPr lang="ru" sz="2200">
                <a:solidFill>
                  <a:srgbClr val="854BAB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endParaRPr sz="2200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550975" y="772950"/>
            <a:ext cx="3867300" cy="30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1.Цели и задачи выполнены.</a:t>
            </a:r>
            <a:endParaRPr sz="1600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2.Функционал работает.</a:t>
            </a:r>
            <a:endParaRPr sz="1600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"/>
          <p:cNvSpPr txBox="1"/>
          <p:nvPr/>
        </p:nvSpPr>
        <p:spPr>
          <a:xfrm>
            <a:off x="343200" y="1140850"/>
            <a:ext cx="8457600" cy="2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         </a:t>
            </a:r>
            <a:endParaRPr sz="2000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2000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</a:t>
            </a:r>
            <a:r>
              <a:rPr lang="ru" sz="3100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Спасибо за внимание.</a:t>
            </a:r>
            <a:endParaRPr sz="3100">
              <a:solidFill>
                <a:srgbClr val="DE0B5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           </a:t>
            </a:r>
            <a:endParaRPr sz="2000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a white teddy bear with pink hearts and the words `` thank you '' (Provided by Tenor)" id="377" name="Google Shape;3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950" y="2684000"/>
            <a:ext cx="2442850" cy="21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