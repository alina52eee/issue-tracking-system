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Lobster"/>
      <p:regular r:id="rId24"/>
    </p:embeddedFont>
    <p:embeddedFont>
      <p:font typeface="Maven Pro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Lobster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bold.fntdata"/><Relationship Id="rId25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37ab95f79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37ab95f79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3f466822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3f466822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3f466822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d3f466822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4cb24016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4cb24016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4cb24016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d4cb24016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4cb24016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d4cb24016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4cb24016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d4cb24016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7193e394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87193e394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87193e394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87193e394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87193e394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87193e394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87193e394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87193e394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7193e394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87193e394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87193e394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87193e394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7400" y="374400"/>
            <a:ext cx="8776200" cy="3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gradFill>
          <a:gsLst>
            <a:gs pos="0">
              <a:srgbClr val="E1C0FF"/>
            </a:gs>
            <a:gs pos="100000">
              <a:srgbClr val="FFC0DF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b.py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C0F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idx="4294967295" type="title"/>
          </p:nvPr>
        </p:nvSpPr>
        <p:spPr>
          <a:xfrm>
            <a:off x="1181400" y="4687200"/>
            <a:ext cx="4715400" cy="5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9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sp>
        <p:nvSpPr>
          <p:cNvPr id="278" name="Google Shape;278;p13"/>
          <p:cNvSpPr txBox="1"/>
          <p:nvPr>
            <p:ph idx="4294967295" type="body"/>
          </p:nvPr>
        </p:nvSpPr>
        <p:spPr>
          <a:xfrm>
            <a:off x="234100" y="285300"/>
            <a:ext cx="8776200" cy="26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          </a:t>
            </a:r>
            <a:r>
              <a:rPr lang="ru" sz="3000"/>
              <a:t>Выпускная дипломная работа                   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                             на тему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“</a:t>
            </a:r>
            <a:r>
              <a:rPr i="1" lang="ru" sz="3000"/>
              <a:t>Issue Tracker Systems(Трекер поддержки)</a:t>
            </a:r>
            <a:r>
              <a:rPr lang="ru" sz="3000"/>
              <a:t>”.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/>
              <a:t>Автор: Кубракова Алина Захаровна.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/>
              <a:t>Руководитель: Ерофеев Илья Александрович.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2724925" y="185875"/>
            <a:ext cx="4643400" cy="5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Актуальность Темы: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148825" y="842125"/>
            <a:ext cx="2282100" cy="13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000"/>
              <a:t>1.У</a:t>
            </a:r>
            <a:r>
              <a:rPr lang="ru" sz="2000"/>
              <a:t>лучшают      прозрачность  процессов.</a:t>
            </a:r>
            <a:endParaRPr sz="2000"/>
          </a:p>
        </p:txBody>
      </p:sp>
      <p:sp>
        <p:nvSpPr>
          <p:cNvPr id="285" name="Google Shape;285;p14"/>
          <p:cNvSpPr txBox="1"/>
          <p:nvPr/>
        </p:nvSpPr>
        <p:spPr>
          <a:xfrm>
            <a:off x="3675950" y="1642350"/>
            <a:ext cx="22821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2.Позволяют отслеживать статус задач на всех этапах.</a:t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6332350" y="874225"/>
            <a:ext cx="20583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3.Инструменты позволяют фиксировать все проблемы.</a:t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1919550" y="3487100"/>
            <a:ext cx="62676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Итог: Использование трекеров обеспечивает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не только устранение багов, но и улучшает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общее качество продукта и коммуникацию.</a:t>
            </a:r>
            <a:endParaRPr sz="2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/>
        </p:nvSpPr>
        <p:spPr>
          <a:xfrm>
            <a:off x="167225" y="138150"/>
            <a:ext cx="8608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Цель и задачи: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Цель</a:t>
            </a:r>
            <a:r>
              <a:rPr lang="ru" sz="1300"/>
              <a:t> — </a:t>
            </a:r>
            <a:r>
              <a:rPr lang="ru"/>
              <a:t>систематизировать работу, избежать потери задач, обеспечить прозрачность исполнения и повысить эффективность команды</a:t>
            </a:r>
            <a:r>
              <a:rPr lang="ru" sz="1300"/>
              <a:t>. 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1047025" y="13160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F0C0EE"/>
              </a:gs>
              <a:gs pos="100000">
                <a:srgbClr val="EA9999"/>
              </a:gs>
            </a:gsLst>
            <a:lin ang="5400012" scaled="0"/>
          </a:gradFill>
          <a:ln cap="flat" cmpd="sng" w="952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Nunito"/>
                <a:ea typeface="Nunito"/>
                <a:cs typeface="Nunito"/>
                <a:sym typeface="Nunito"/>
              </a:rPr>
              <a:t>1. Фиксации ошибок.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4718825" y="18395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FFFF00"/>
              </a:gs>
              <a:gs pos="100000">
                <a:srgbClr val="EA9999"/>
              </a:gs>
            </a:gsLst>
            <a:lin ang="5400012" scaled="0"/>
          </a:gra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Nunito"/>
                <a:ea typeface="Nunito"/>
                <a:cs typeface="Nunito"/>
                <a:sym typeface="Nunito"/>
              </a:rPr>
              <a:t>2.Постановка задач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1089200" y="27244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CFE2F3"/>
              </a:gs>
              <a:gs pos="100000">
                <a:srgbClr val="9FC5E8"/>
              </a:gs>
            </a:gsLst>
            <a:lin ang="5400012" scaled="0"/>
          </a:gra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Nunito"/>
                <a:ea typeface="Nunito"/>
                <a:cs typeface="Nunito"/>
                <a:sym typeface="Nunito"/>
              </a:rPr>
              <a:t>3.Планировании спринтов.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4718825" y="332800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B6D7A8"/>
              </a:gs>
              <a:gs pos="100000">
                <a:srgbClr val="D9EAD3"/>
              </a:gs>
            </a:gsLst>
            <a:lin ang="5400012" scaled="0"/>
          </a:gra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Nunito"/>
                <a:ea typeface="Nunito"/>
                <a:cs typeface="Nunito"/>
                <a:sym typeface="Nunito"/>
              </a:rPr>
              <a:t>4.Прозрачное отслеживание прогресса.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/>
          <p:nvPr/>
        </p:nvSpPr>
        <p:spPr>
          <a:xfrm>
            <a:off x="167225" y="36325"/>
            <a:ext cx="41736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500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Целевая аудитория и сценарий использования:</a:t>
            </a:r>
            <a:endParaRPr i="1" sz="2600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167225" y="1017950"/>
            <a:ext cx="47481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Целевая аудитория:</a:t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Georgia"/>
                <a:ea typeface="Georgia"/>
                <a:cs typeface="Georgia"/>
                <a:sym typeface="Georgia"/>
              </a:rPr>
              <a:t>  1.Разработчики и тестировщики.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Georgia"/>
                <a:ea typeface="Georgia"/>
                <a:cs typeface="Georgia"/>
                <a:sym typeface="Georgia"/>
              </a:rPr>
              <a:t>  2.Тех‑лиды и прод‑менеджеры.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03" name="Google Shape;303;p16"/>
          <p:cNvCxnSpPr/>
          <p:nvPr/>
        </p:nvCxnSpPr>
        <p:spPr>
          <a:xfrm>
            <a:off x="24000" y="865100"/>
            <a:ext cx="90960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" name="Google Shape;304;p16"/>
          <p:cNvSpPr txBox="1"/>
          <p:nvPr/>
        </p:nvSpPr>
        <p:spPr>
          <a:xfrm>
            <a:off x="167225" y="2624825"/>
            <a:ext cx="62199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Сценарии использования: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Georgia"/>
                <a:ea typeface="Georgia"/>
                <a:cs typeface="Georgia"/>
                <a:sym typeface="Georgia"/>
              </a:rPr>
              <a:t> 1.Заведение и назначение задач.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Georgia"/>
                <a:ea typeface="Georgia"/>
                <a:cs typeface="Georgia"/>
                <a:sym typeface="Georgia"/>
              </a:rPr>
              <a:t> 2.Работа разработчика над задачей.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ru" sz="1700">
                <a:latin typeface="Georgia"/>
                <a:ea typeface="Georgia"/>
                <a:cs typeface="Georgia"/>
                <a:sym typeface="Georgia"/>
              </a:rPr>
              <a:t>3.проверка и согласование.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latin typeface="Georgia"/>
                <a:ea typeface="Georgia"/>
                <a:cs typeface="Georgia"/>
                <a:sym typeface="Georgia"/>
              </a:rPr>
              <a:t> 4.Мониторинг, отчёты и поддержка.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/>
        </p:nvSpPr>
        <p:spPr>
          <a:xfrm>
            <a:off x="189025" y="29100"/>
            <a:ext cx="37008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i="1" lang="ru" sz="2750">
                <a:solidFill>
                  <a:srgbClr val="854BAB"/>
                </a:solidFill>
                <a:latin typeface="Courier New"/>
                <a:ea typeface="Courier New"/>
                <a:cs typeface="Courier New"/>
                <a:sym typeface="Courier New"/>
              </a:rPr>
              <a:t>Функциональные требования:</a:t>
            </a:r>
            <a:endParaRPr i="1" sz="2750">
              <a:solidFill>
                <a:srgbClr val="854BAB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700">
              <a:solidFill>
                <a:srgbClr val="854BA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0" name="Google Shape;310;p17"/>
          <p:cNvSpPr txBox="1"/>
          <p:nvPr/>
        </p:nvSpPr>
        <p:spPr>
          <a:xfrm>
            <a:off x="298100" y="1192450"/>
            <a:ext cx="7823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1.Ключевые функции: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а)Комментарии и уведомления.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b)Назначение задач.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c)Отслеживание прогресса. 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2.Что пользователь может делать в системе: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a)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Прикреплять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файлы.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b)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Комментировать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назначенные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задачи.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с)Фильтровать список.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3.Ограничения: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a)Определённое 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количество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пользователей.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b)Права доступа.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c)Строгая 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последовательность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задач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/>
          <p:nvPr/>
        </p:nvSpPr>
        <p:spPr>
          <a:xfrm>
            <a:off x="146125" y="79550"/>
            <a:ext cx="5853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i="1" lang="ru" sz="2050">
                <a:solidFill>
                  <a:srgbClr val="A64D79"/>
                </a:solidFill>
                <a:latin typeface="Georgia"/>
                <a:ea typeface="Georgia"/>
                <a:cs typeface="Georgia"/>
                <a:sym typeface="Georgia"/>
              </a:rPr>
              <a:t>Технологический </a:t>
            </a:r>
            <a:r>
              <a:rPr i="1" lang="ru" sz="2050">
                <a:solidFill>
                  <a:srgbClr val="A64D79"/>
                </a:solidFill>
                <a:latin typeface="Georgia"/>
                <a:ea typeface="Georgia"/>
                <a:cs typeface="Georgia"/>
                <a:sym typeface="Georgia"/>
              </a:rPr>
              <a:t>стек:</a:t>
            </a:r>
            <a:endParaRPr i="1" sz="2050">
              <a:solidFill>
                <a:srgbClr val="A64D7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E4C0F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269050" y="595850"/>
            <a:ext cx="39555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Frontend:                                  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Компоненты для 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создания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.                           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Responsive дизайн на   JS-фреймворках.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    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238500" y="3679150"/>
            <a:ext cx="78963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Обоснование выбора: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Этот стек минимизирует время разработки MVP, один язык(JS/Python),подходит для быстрого запуска,богатая экосистема. 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238500" y="2443175"/>
            <a:ext cx="36573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Backend:</a:t>
            </a:r>
            <a:r>
              <a:rPr lang="ru" sz="15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5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*Интеграции с GitHub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WebSockets для уведомлений.</a:t>
            </a: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269050" y="1665625"/>
            <a:ext cx="4050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База данных:                                                           *Docker для деплоя.                                       </a:t>
            </a:r>
            <a:r>
              <a:rPr lang="ru" sz="15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Redis для кэша/очередей.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"/>
          <p:cNvSpPr txBox="1"/>
          <p:nvPr/>
        </p:nvSpPr>
        <p:spPr>
          <a:xfrm>
            <a:off x="280725" y="239950"/>
            <a:ext cx="35193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650">
                <a:solidFill>
                  <a:srgbClr val="854BAB"/>
                </a:solidFill>
                <a:latin typeface="Georgia"/>
                <a:ea typeface="Georgia"/>
                <a:cs typeface="Georgia"/>
                <a:sym typeface="Georgia"/>
              </a:rPr>
              <a:t>Архитектура и структура проекта:</a:t>
            </a:r>
            <a:endParaRPr b="1" sz="1650">
              <a:solidFill>
                <a:srgbClr val="854BA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54BAB"/>
              </a:solidFill>
              <a:highlight>
                <a:srgbClr val="0D1117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854BA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562575" y="1193150"/>
            <a:ext cx="224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Структура папок: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797775" y="1632075"/>
            <a:ext cx="2485200" cy="17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Папки “py” - код для работы сайта.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Templates - главный экран сайта.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Static -дизайн сайта.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4080200" y="1149875"/>
            <a:ext cx="2343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API: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4321250" y="1563950"/>
            <a:ext cx="3332100" cy="17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GET/tasks - получить список задач.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POST/tasks - создать задачу.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PUT/tasks/:id - обновить задачу.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DELETE/tasks/:id - удалить задачу.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/>
        </p:nvSpPr>
        <p:spPr>
          <a:xfrm>
            <a:off x="138950" y="0"/>
            <a:ext cx="100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C27BA0"/>
                </a:solidFill>
                <a:latin typeface="Georgia"/>
                <a:ea typeface="Georgia"/>
                <a:cs typeface="Georgia"/>
                <a:sym typeface="Georgia"/>
              </a:rPr>
              <a:t>UX/UI:</a:t>
            </a:r>
            <a:endParaRPr sz="2100">
              <a:solidFill>
                <a:srgbClr val="C27BA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138950" y="355475"/>
            <a:ext cx="517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Georgia"/>
                <a:ea typeface="Georgia"/>
                <a:cs typeface="Georgia"/>
                <a:sym typeface="Georgia"/>
              </a:rPr>
              <a:t>UX/UI issue tracker фокусируется на простоте, прототипы и макеты issue tracker включают дашборды с графиками, Kanban-доски и формы репортов, как в Jira или GitHub Issues.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5" name="Google Shape;335;p20" title="Снимок экрана (12).png"/>
          <p:cNvPicPr preferRelativeResize="0"/>
          <p:nvPr/>
        </p:nvPicPr>
        <p:blipFill rotWithShape="1">
          <a:blip r:embed="rId3">
            <a:alphaModFix/>
          </a:blip>
          <a:srcRect b="24701" l="31737" r="39606" t="37952"/>
          <a:stretch/>
        </p:blipFill>
        <p:spPr>
          <a:xfrm>
            <a:off x="138950" y="1427375"/>
            <a:ext cx="4206274" cy="28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0"/>
          <p:cNvSpPr txBox="1"/>
          <p:nvPr/>
        </p:nvSpPr>
        <p:spPr>
          <a:xfrm>
            <a:off x="4345225" y="1108925"/>
            <a:ext cx="4835400" cy="2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ru">
                <a:latin typeface="Georgia"/>
                <a:ea typeface="Georgia"/>
                <a:cs typeface="Georgia"/>
                <a:sym typeface="Georgia"/>
              </a:rPr>
              <a:t>Этот веб-дизайн предназначен для управления  проектами и мониторинга задач. В интерфейсе используются современные элементы визуализации данных: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ru">
                <a:latin typeface="Georgia"/>
                <a:ea typeface="Georgia"/>
                <a:cs typeface="Georgia"/>
                <a:sym typeface="Georgia"/>
              </a:rPr>
              <a:t>Информационные карточки:</a:t>
            </a:r>
            <a:r>
              <a:rPr lang="ru">
                <a:latin typeface="Georgia"/>
                <a:ea typeface="Georgia"/>
                <a:cs typeface="Georgia"/>
                <a:sym typeface="Georgia"/>
              </a:rPr>
              <a:t> Отображают ключевые показатели, такие как общее количество задач (75), активных (30) и завершенных (160).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>
                <a:latin typeface="Georgia"/>
                <a:ea typeface="Georgia"/>
                <a:cs typeface="Georgia"/>
                <a:sym typeface="Georgia"/>
              </a:rPr>
              <a:t>Графики и диаграммы:</a:t>
            </a:r>
            <a:r>
              <a:rPr lang="ru">
                <a:latin typeface="Georgia"/>
                <a:ea typeface="Georgia"/>
                <a:cs typeface="Georgia"/>
                <a:sym typeface="Georgia"/>
              </a:rPr>
              <a:t> Столбчатые диаграммы и линейные графики для отслеживания динамики выполнения работ во времени.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>
                <a:latin typeface="Georgia"/>
                <a:ea typeface="Georgia"/>
                <a:cs typeface="Georgia"/>
                <a:sym typeface="Georgia"/>
              </a:rPr>
              <a:t>Списки задач и профили:</a:t>
            </a:r>
            <a:r>
              <a:rPr lang="ru">
                <a:latin typeface="Georgia"/>
                <a:ea typeface="Georgia"/>
                <a:cs typeface="Georgia"/>
                <a:sym typeface="Georgia"/>
              </a:rPr>
              <a:t> Удобная навигация по текущим задачам с отображением ответственных сотрудников.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"/>
          <p:cNvSpPr txBox="1"/>
          <p:nvPr/>
        </p:nvSpPr>
        <p:spPr>
          <a:xfrm>
            <a:off x="160925" y="190200"/>
            <a:ext cx="42135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Демонстрация работы:</a:t>
            </a:r>
            <a:endParaRPr sz="2300">
              <a:solidFill>
                <a:srgbClr val="DE0B59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42" name="Google Shape;342;p21" title="Снимок экрана (13).png"/>
          <p:cNvPicPr preferRelativeResize="0"/>
          <p:nvPr/>
        </p:nvPicPr>
        <p:blipFill rotWithShape="1">
          <a:blip r:embed="rId3">
            <a:alphaModFix/>
          </a:blip>
          <a:srcRect b="47894" l="37371" r="31698" t="18860"/>
          <a:stretch/>
        </p:blipFill>
        <p:spPr>
          <a:xfrm>
            <a:off x="360575" y="877800"/>
            <a:ext cx="2097024" cy="208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1" title="Снимок экрана (14).png"/>
          <p:cNvPicPr preferRelativeResize="0"/>
          <p:nvPr/>
        </p:nvPicPr>
        <p:blipFill rotWithShape="1">
          <a:blip r:embed="rId4">
            <a:alphaModFix/>
          </a:blip>
          <a:srcRect b="49090" l="37520" r="30700" t="18120"/>
          <a:stretch/>
        </p:blipFill>
        <p:spPr>
          <a:xfrm>
            <a:off x="2697550" y="805800"/>
            <a:ext cx="2421226" cy="226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1" title="Снимок экрана (15).png"/>
          <p:cNvPicPr preferRelativeResize="0"/>
          <p:nvPr/>
        </p:nvPicPr>
        <p:blipFill rotWithShape="1">
          <a:blip r:embed="rId5">
            <a:alphaModFix/>
          </a:blip>
          <a:srcRect b="24745" l="37778" r="31621" t="19572"/>
          <a:stretch/>
        </p:blipFill>
        <p:spPr>
          <a:xfrm>
            <a:off x="5431425" y="825800"/>
            <a:ext cx="2552126" cy="222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1" title="Снимок экрана (16).png"/>
          <p:cNvPicPr preferRelativeResize="0"/>
          <p:nvPr/>
        </p:nvPicPr>
        <p:blipFill rotWithShape="1">
          <a:blip r:embed="rId6">
            <a:alphaModFix/>
          </a:blip>
          <a:srcRect b="15596" l="37563" r="31220" t="18679"/>
          <a:stretch/>
        </p:blipFill>
        <p:spPr>
          <a:xfrm>
            <a:off x="360575" y="3206526"/>
            <a:ext cx="2370326" cy="177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"/>
          <p:cNvSpPr txBox="1"/>
          <p:nvPr/>
        </p:nvSpPr>
        <p:spPr>
          <a:xfrm>
            <a:off x="145425" y="159950"/>
            <a:ext cx="32064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65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Тестирование и качество:</a:t>
            </a:r>
            <a:endParaRPr b="1" sz="1650">
              <a:solidFill>
                <a:srgbClr val="E0666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Georgia"/>
                <a:ea typeface="Georgia"/>
                <a:cs typeface="Georgia"/>
                <a:sym typeface="Georgia"/>
              </a:rPr>
              <a:t>1.Тестирование проводилось в ручную.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145425" y="1372400"/>
            <a:ext cx="4514400" cy="16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2.Пример кейсов:</a:t>
            </a:r>
            <a:endParaRPr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1.Авторизация/регистрация - пустой логин/пароль, неверный пароль, несуществующий пароль, дублирующийся username.</a:t>
            </a:r>
            <a:endParaRPr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2.Тикеты и комментарии - создание тикета без заголовка, запрет действий в архивном проекте, пустой комментарий.</a:t>
            </a:r>
            <a:endParaRPr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5091375" y="738825"/>
            <a:ext cx="3467400" cy="4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3.Обработка ошибок и валидации: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  1.Валидация </a:t>
            </a:r>
            <a:r>
              <a:rPr lang="ru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входных</a:t>
            </a:r>
            <a:r>
              <a:rPr lang="ru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данных на сервере - проверка обязательных полей, длины, допустимых ролей/приоритетов, преобразования user_id и int.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  2.Обработка бизнес-ошибок - sqlite3.IntegrityError для уникальности логина,возврат кодов 400/403/404/409, flash/error сообщения пользователю.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  3.Защита на уровне БД - UNIQUE, CHECK, FOREIGN KEY в </a:t>
            </a:r>
            <a:r>
              <a:rPr lang="ru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3"/>
              </a:rPr>
              <a:t>db.py</a:t>
            </a:r>
            <a:r>
              <a:rPr lang="ru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как дополнительный барьер валидации.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3"/>
          <p:cNvSpPr txBox="1"/>
          <p:nvPr/>
        </p:nvSpPr>
        <p:spPr>
          <a:xfrm>
            <a:off x="80450" y="197500"/>
            <a:ext cx="313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980000"/>
                </a:solidFill>
                <a:latin typeface="Georgia"/>
                <a:ea typeface="Georgia"/>
                <a:cs typeface="Georgia"/>
                <a:sym typeface="Georgia"/>
              </a:rPr>
              <a:t>Сложности и их решения:</a:t>
            </a:r>
            <a:endParaRPr sz="1700">
              <a:solidFill>
                <a:srgbClr val="98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482825" y="672975"/>
            <a:ext cx="3204000" cy="3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1.Разграничения прав доступа:</a:t>
            </a:r>
            <a:endParaRPr sz="15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 Проблема - в системе несколько ролей, и было сложно корректно </a:t>
            </a: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ограничивать</a:t>
            </a: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действия каждого пользователя.</a:t>
            </a:r>
            <a:endParaRPr sz="15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 Решение - вынесены проверки прав в отдельные функции и добавлены ограничения доступа для защищенных маршрутов.</a:t>
            </a:r>
            <a:endParaRPr sz="15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 Чему научились - централизация RBAC-логика делает код безопаснее.</a:t>
            </a:r>
            <a:endParaRPr sz="15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9" name="Google Shape;359;p23"/>
          <p:cNvSpPr txBox="1"/>
          <p:nvPr/>
        </p:nvSpPr>
        <p:spPr>
          <a:xfrm>
            <a:off x="4491525" y="563225"/>
            <a:ext cx="3335700" cy="3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2.Архивация вместо удаления:</a:t>
            </a:r>
            <a:endParaRPr sz="15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  Проблема - </a:t>
            </a: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требовалось</a:t>
            </a: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скрывать/блокировать сущности без потери истории работы.</a:t>
            </a:r>
            <a:endParaRPr sz="15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 Решение - реализован механизм soft-archive и запрет действий для архивных записей.</a:t>
            </a:r>
            <a:endParaRPr sz="15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 Чему научились -бизнес-правила “жизненного цикла” данных нужно учитывать во всех пользовательских сценариях, а не только при изображении интерфейса.</a:t>
            </a:r>
            <a:endParaRPr sz="15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4"/>
          <p:cNvSpPr txBox="1"/>
          <p:nvPr/>
        </p:nvSpPr>
        <p:spPr>
          <a:xfrm>
            <a:off x="197500" y="234075"/>
            <a:ext cx="3482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674EA7"/>
                </a:solidFill>
                <a:latin typeface="Georgia"/>
                <a:ea typeface="Georgia"/>
                <a:cs typeface="Georgia"/>
                <a:sym typeface="Georgia"/>
              </a:rPr>
              <a:t>Результаты и планы развития:</a:t>
            </a:r>
            <a:endParaRPr sz="1700">
              <a:solidFill>
                <a:srgbClr val="674EA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416975" y="768100"/>
            <a:ext cx="2948100" cy="22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Реализовано</a:t>
            </a: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endParaRPr sz="15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1.Авторизация и роли пользователей.</a:t>
            </a:r>
            <a:endParaRPr sz="15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2. Создание и ведение проектов.</a:t>
            </a:r>
            <a:endParaRPr sz="15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3.Работа с заявками(создание,просмотр,комментарии).</a:t>
            </a:r>
            <a:endParaRPr sz="15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